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7F2"/>
                </a:solidFill>
                <a:latin typeface="Aptos Display"/>
              </a:rPr>
              <a:t>Browser-Based Trace Viewer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3BAC6"/>
                </a:solidFill>
                <a:latin typeface="Aptos"/>
              </a:rPr>
              <a:t>Engineering spec presentation for the SWE coding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7F7F2"/>
                </a:solidFill>
                <a:latin typeface="Aptos Display"/>
              </a:rPr>
              <a:t>The core problem is data delivery, not front-end drawing.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F7F7F2"/>
                </a:solidFill>
                <a:latin typeface="Aptos"/>
              </a:rPr>
              <a:t>Scientists need full-recording context and high-resolution detail with smooth pan and zoom.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F7F7F2"/>
                </a:solidFill>
                <a:latin typeface="Aptos"/>
              </a:rPr>
              <a:t>The UI should never blank while the next viewport is loading.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F7F7F2"/>
                </a:solidFill>
                <a:latin typeface="Aptos"/>
              </a:rPr>
              <a:t>Design choice: overview summaries for movement, raw slices only when pixel density justifies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212080"/>
            <a:ext cx="10972800" cy="100584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2180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BC0BE"/>
                </a:solidFill>
                <a:latin typeface="Aptos Display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05856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3BAC6"/>
                </a:solidFill>
                <a:latin typeface="Aptos"/>
              </a:rPr>
              <a:t>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532180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D35E"/>
                </a:solidFill>
                <a:latin typeface="Aptos Display"/>
              </a:rPr>
              <a:t>2500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5705856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3BAC6"/>
                </a:solidFill>
                <a:latin typeface="Aptos"/>
              </a:rPr>
              <a:t>Sample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532180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BC0BE"/>
                </a:solidFill>
                <a:latin typeface="Aptos Display"/>
              </a:rPr>
              <a:t>1.5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5705856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3BAC6"/>
                </a:solidFill>
                <a:latin typeface="Aptos"/>
              </a:rPr>
              <a:t>Duration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600200"/>
            <a:ext cx="3840480" cy="4297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4D35E"/>
                </a:solidFill>
                <a:latin typeface="Aptos Display"/>
              </a:rPr>
              <a:t>Working 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331720"/>
            <a:ext cx="3200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>
                <a:solidFill>
                  <a:srgbClr val="F7F7F2"/>
                </a:solidFill>
                <a:latin typeface="Aptos"/>
              </a:rPr>
              <a:t>Treat navigation and inspection as different products.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>
                <a:solidFill>
                  <a:srgbClr val="F7F7F2"/>
                </a:solidFill>
                <a:latin typeface="Aptos"/>
              </a:rPr>
              <a:t>Optimize `current_data`; treat `voltage_data` as metadata.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>
                <a:solidFill>
                  <a:srgbClr val="F7F7F2"/>
                </a:solidFill>
                <a:latin typeface="Aptos"/>
              </a:rPr>
              <a:t>Host canonical Zarr in S3 and precompute overview pyramids.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3BAC6"/>
                </a:solidFill>
                <a:latin typeface="Aptos"/>
              </a:rPr>
              <a:t>Mock Zarr recording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7F2"/>
                </a:solidFill>
                <a:latin typeface="Aptos Display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3BAC6"/>
                </a:solidFill>
                <a:latin typeface="Aptos"/>
              </a:rPr>
              <a:t>What this spec goes deep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583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F7F7F2"/>
                </a:solidFill>
                <a:latin typeface="Aptos"/>
              </a:rPr>
              <a:t>Use small experiments on the mock recording to decide where raw delivery stops making sense.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F7F7F2"/>
                </a:solidFill>
                <a:latin typeface="Aptos"/>
              </a:rPr>
              <a:t>Design the service around metadata, overview envelopes, and narrow raw detail reads.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F7F7F2"/>
                </a:solidFill>
                <a:latin typeface="Aptos"/>
              </a:rPr>
              <a:t>Show a concrete AWS deployment and the operational tradeoffs that matter most.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F7F7F2"/>
                </a:solidFill>
                <a:latin typeface="Aptos"/>
              </a:rPr>
              <a:t>Keep UI work minimal except where it affects data delivery and perceived latency.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645920"/>
            <a:ext cx="3291840" cy="155448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0" y="1645920"/>
            <a:ext cx="109728" cy="1554480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81051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2176272"/>
            <a:ext cx="2962656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Latency and object fan-out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Caching and preprocessing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Hosting and rollout sequence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474720"/>
            <a:ext cx="3291840" cy="155448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3474720"/>
            <a:ext cx="109728" cy="1554480"/>
          </a:xfrm>
          <a:prstGeom prst="rect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63931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Out Of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4005072"/>
            <a:ext cx="2962656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Bespoke waveform rendering engine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Deep UI design work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Full auth and tenancy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3BAC6"/>
                </a:solidFill>
                <a:latin typeface="Aptos"/>
              </a:rPr>
              <a:t>Mock Zarr recording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7F2"/>
                </a:solidFill>
                <a:latin typeface="Aptos Display"/>
              </a:rPr>
              <a:t>What The Data Taught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3BAC6"/>
                </a:solidFill>
                <a:latin typeface="Aptos"/>
              </a:rPr>
              <a:t>The mock file changed the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338328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3383280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current_data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4974336" cy="2724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Chunks [1, 50000], shards [1, 1600000]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432 data objects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653.42 MiB compressed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Dominates latency-sensitive interactive reads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45920"/>
            <a:ext cx="5120640" cy="338328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645920"/>
            <a:ext cx="109728" cy="3383280"/>
          </a:xfrm>
          <a:prstGeom prst="rect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105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voltage_data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176272"/>
            <a:ext cx="4791456" cy="2724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Chunks [1, 300000], shards [1, 9600000]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96 data objects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1.33 MiB compressed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Effectively metadata in this mock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440680"/>
            <a:ext cx="10972800" cy="100584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5040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BC0BE"/>
                </a:solidFill>
                <a:latin typeface="Aptos Display"/>
              </a:rPr>
              <a:t>2.41 GiB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34456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3BAC6"/>
                </a:solidFill>
                <a:latin typeface="Aptos"/>
              </a:rPr>
              <a:t>Total Raw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55040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D35E"/>
                </a:solidFill>
                <a:latin typeface="Aptos Display"/>
              </a:rPr>
              <a:t>432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934456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3BAC6"/>
                </a:solidFill>
                <a:latin typeface="Aptos"/>
              </a:rPr>
              <a:t>current_data Objects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555040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BC0BE"/>
                </a:solidFill>
                <a:latin typeface="Aptos Display"/>
              </a:rPr>
              <a:t>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5934456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3BAC6"/>
                </a:solidFill>
                <a:latin typeface="Aptos"/>
              </a:rPr>
              <a:t>voltage_data Objects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3BAC6"/>
                </a:solidFill>
                <a:latin typeface="Aptos"/>
              </a:rPr>
              <a:t>Mock Zarr recording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7F2"/>
                </a:solidFill>
                <a:latin typeface="Aptos Display"/>
              </a:rPr>
              <a:t>Focused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3BAC6"/>
                </a:solidFill>
                <a:latin typeface="Aptos"/>
              </a:rPr>
              <a:t>A small benchmark set was enough to set the first cutoff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352044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9728" cy="3520440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1 second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67712"/>
            <a:ext cx="3054096" cy="2862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Payload: 234.38 KiB raw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Warm read: 27.346 ms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Raw is acceptable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352044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109728" cy="3520440"/>
          </a:xfrm>
          <a:prstGeom prst="rect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0195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10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267712"/>
            <a:ext cx="3054096" cy="2862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Payload: 2.29 MiB raw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Samples / px: 20.833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Already envelope territory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352044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D2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109728" cy="3520440"/>
          </a:xfrm>
          <a:prstGeom prst="rect">
            <a:avLst/>
          </a:prstGeom>
          <a:solidFill>
            <a:srgbClr val="D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0195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267712"/>
            <a:ext cx="3054096" cy="2862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Payload: 68.66 MiB raw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Warm read: 227.19 ms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Too heavy for responsive viewport refresh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32120"/>
            <a:ext cx="10698480" cy="73152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7F7F2"/>
                </a:solidFill>
                <a:latin typeface="Aptos"/>
              </a:rPr>
              <a:t>Full overview drops from 1.21 GiB raw to 225.00 KiB as a 1200 px min/max envelope. Initial raw cutoff: 1.2 s per channel.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3BAC6"/>
                </a:solidFill>
                <a:latin typeface="Aptos"/>
              </a:rPr>
              <a:t>Mock Zarr recording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7F2"/>
                </a:solidFill>
                <a:latin typeface="Aptos Display"/>
              </a:rPr>
              <a:t>Delivery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3BAC6"/>
                </a:solidFill>
                <a:latin typeface="Aptos"/>
              </a:rPr>
              <a:t>Two lanes, and never a blank viewport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29000" cy="4023360"/>
          </a:xfrm>
          <a:prstGeom prst="roundRect">
            <a:avLst/>
          </a:prstGeom>
          <a:solidFill>
            <a:srgbClr val="1C2541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2024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BC0BE"/>
                </a:solidFill>
                <a:latin typeface="Aptos Display"/>
              </a:rPr>
              <a:t>/metadata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86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3BAC6"/>
                </a:solidFill>
                <a:latin typeface="Aptos"/>
              </a:rPr>
              <a:t>Shape, scales, duration, default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97480"/>
            <a:ext cx="297180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Recording dimensions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Unit scales and offsets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Default channels and window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Overview levels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29000" cy="4023360"/>
          </a:xfrm>
          <a:prstGeom prst="roundRect">
            <a:avLst/>
          </a:prstGeom>
          <a:solidFill>
            <a:srgbClr val="1C2541"/>
          </a:solidFill>
          <a:ln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92024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4D35E"/>
                </a:solidFill>
                <a:latin typeface="Aptos Display"/>
              </a:rPr>
              <a:t>/overview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286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3BAC6"/>
                </a:solidFill>
                <a:latin typeface="Aptos"/>
              </a:rPr>
              <a:t>Cacheable min/max envelopes sized to viewport width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697480"/>
            <a:ext cx="297180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Optimized for navigation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Small stable payloads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Good CDN/cache behavior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Precomputed pyramid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737360"/>
            <a:ext cx="3429000" cy="4023360"/>
          </a:xfrm>
          <a:prstGeom prst="roundRect">
            <a:avLst/>
          </a:prstGeom>
          <a:solidFill>
            <a:srgbClr val="1C2541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7" y="192024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BC0BE"/>
                </a:solidFill>
                <a:latin typeface="Aptos Display"/>
              </a:rPr>
              <a:t>/detail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7" y="2286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3BAC6"/>
                </a:solidFill>
                <a:latin typeface="Aptos"/>
              </a:rPr>
              <a:t>Raw `int16` only for narrow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2697480"/>
            <a:ext cx="297180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Raw under the cutoff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Envelope otherwise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Binary transport preferred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Keep old frame until replacement is ready</a:t>
            </a:r>
          </a:p>
        </p:txBody>
      </p:sp>
      <p:sp>
        <p:nvSpPr>
          <p:cNvPr id="16" name="Chevron 15"/>
          <p:cNvSpPr/>
          <p:nvPr/>
        </p:nvSpPr>
        <p:spPr>
          <a:xfrm>
            <a:off x="3566160" y="3383280"/>
            <a:ext cx="914400" cy="384048"/>
          </a:xfrm>
          <a:prstGeom prst="chevron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B132B"/>
                </a:solidFill>
                <a:latin typeface="Aptos"/>
              </a:rPr>
              <a:t>zoom</a:t>
            </a:r>
          </a:p>
        </p:txBody>
      </p:sp>
      <p:sp>
        <p:nvSpPr>
          <p:cNvPr id="17" name="Chevron 16"/>
          <p:cNvSpPr/>
          <p:nvPr/>
        </p:nvSpPr>
        <p:spPr>
          <a:xfrm>
            <a:off x="7178040" y="3383280"/>
            <a:ext cx="914400" cy="384048"/>
          </a:xfrm>
          <a:prstGeom prst="chevron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B132B"/>
                </a:solidFill>
                <a:latin typeface="Aptos"/>
              </a:rPr>
              <a:t>inspect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3BAC6"/>
                </a:solidFill>
                <a:latin typeface="Aptos"/>
              </a:rPr>
              <a:t>Mock Zarr recording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7F2"/>
                </a:solidFill>
                <a:latin typeface="Aptos Display"/>
              </a:rPr>
              <a:t>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3BAC6"/>
                </a:solidFill>
                <a:latin typeface="Aptos"/>
              </a:rPr>
              <a:t>Concrete hosting choices for a first production 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011680" cy="1097280"/>
          </a:xfrm>
          <a:prstGeom prst="roundRect">
            <a:avLst/>
          </a:prstGeom>
          <a:solidFill>
            <a:srgbClr val="1C2541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C0BE"/>
                </a:solidFill>
                <a:latin typeface="Aptos Display"/>
              </a:rPr>
              <a:t>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67712"/>
            <a:ext cx="181051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7F7F2"/>
                </a:solidFill>
                <a:latin typeface="Aptos"/>
              </a:rPr>
              <a:t>Viewer loads static assets and requests overview/detail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920240"/>
            <a:ext cx="2011680" cy="1097280"/>
          </a:xfrm>
          <a:prstGeom prst="roundRect">
            <a:avLst/>
          </a:prstGeom>
          <a:solidFill>
            <a:srgbClr val="1C2541"/>
          </a:solidFill>
          <a:ln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27248" y="20116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4D35E"/>
                </a:solidFill>
                <a:latin typeface="Aptos Display"/>
              </a:rPr>
              <a:t>CloudFront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267712"/>
            <a:ext cx="181051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7F7F2"/>
                </a:solidFill>
                <a:latin typeface="Aptos"/>
              </a:rPr>
              <a:t>Serves the app and caches overview responses aggressively.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920240"/>
            <a:ext cx="2057400" cy="1097280"/>
          </a:xfrm>
          <a:prstGeom prst="roundRect">
            <a:avLst/>
          </a:prstGeom>
          <a:solidFill>
            <a:srgbClr val="1C2541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2011680"/>
            <a:ext cx="1874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C0BE"/>
                </a:solidFill>
                <a:latin typeface="Aptos Display"/>
              </a:rPr>
              <a:t>ALB + ECS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2267712"/>
            <a:ext cx="185623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7F7F2"/>
                </a:solidFill>
                <a:latin typeface="Aptos"/>
              </a:rPr>
              <a:t>FastAPI on Fargate handles metadata and narrow detail reads.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325880"/>
            <a:ext cx="2011680" cy="1097280"/>
          </a:xfrm>
          <a:prstGeom prst="roundRect">
            <a:avLst/>
          </a:prstGeom>
          <a:solidFill>
            <a:srgbClr val="1C2541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14173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C0BE"/>
                </a:solidFill>
                <a:latin typeface="Aptos Display"/>
              </a:rPr>
              <a:t>S3 Zarr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1673352"/>
            <a:ext cx="181051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7F7F2"/>
                </a:solidFill>
                <a:latin typeface="Aptos"/>
              </a:rPr>
              <a:t>Canonical sharded recordings.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743200"/>
            <a:ext cx="2011680" cy="1097280"/>
          </a:xfrm>
          <a:prstGeom prst="roundRect">
            <a:avLst/>
          </a:prstGeom>
          <a:solidFill>
            <a:srgbClr val="1C2541"/>
          </a:solidFill>
          <a:ln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28346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4D35E"/>
                </a:solidFill>
                <a:latin typeface="Aptos Display"/>
              </a:rPr>
              <a:t>S3 Pyramids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3090672"/>
            <a:ext cx="181051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7F7F2"/>
                </a:solidFill>
                <a:latin typeface="Aptos"/>
              </a:rPr>
              <a:t>Precomputed overview levels.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2011680"/>
            <a:ext cx="1554480" cy="1097280"/>
          </a:xfrm>
          <a:prstGeom prst="roundRect">
            <a:avLst/>
          </a:prstGeom>
          <a:solidFill>
            <a:srgbClr val="1C2541"/>
          </a:solidFill>
          <a:ln>
            <a:solidFill>
              <a:srgbClr val="D2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85248" y="21031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25757"/>
                </a:solidFill>
                <a:latin typeface="Aptos Display"/>
              </a:rPr>
              <a:t>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5248" y="2359152"/>
            <a:ext cx="135331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7F7F2"/>
                </a:solidFill>
                <a:latin typeface="Aptos"/>
              </a:rPr>
              <a:t>Builds and refreshes pyramids.</a:t>
            </a:r>
          </a:p>
        </p:txBody>
      </p:sp>
      <p:sp>
        <p:nvSpPr>
          <p:cNvPr id="22" name="Chevron 21"/>
          <p:cNvSpPr/>
          <p:nvPr/>
        </p:nvSpPr>
        <p:spPr>
          <a:xfrm>
            <a:off x="2697480" y="2240280"/>
            <a:ext cx="914400" cy="384048"/>
          </a:xfrm>
          <a:prstGeom prst="chevron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B132B"/>
                </a:solidFill>
                <a:latin typeface="Aptos"/>
              </a:rPr>
              <a:t>cache</a:t>
            </a:r>
          </a:p>
        </p:txBody>
      </p:sp>
      <p:sp>
        <p:nvSpPr>
          <p:cNvPr id="23" name="Chevron 22"/>
          <p:cNvSpPr/>
          <p:nvPr/>
        </p:nvSpPr>
        <p:spPr>
          <a:xfrm>
            <a:off x="4983480" y="2240280"/>
            <a:ext cx="914400" cy="384048"/>
          </a:xfrm>
          <a:prstGeom prst="chevron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B132B"/>
                </a:solidFill>
                <a:latin typeface="Aptos"/>
              </a:rPr>
              <a:t>serve</a:t>
            </a:r>
          </a:p>
        </p:txBody>
      </p:sp>
      <p:sp>
        <p:nvSpPr>
          <p:cNvPr id="24" name="Chevron 23"/>
          <p:cNvSpPr/>
          <p:nvPr/>
        </p:nvSpPr>
        <p:spPr>
          <a:xfrm>
            <a:off x="7269480" y="1645920"/>
            <a:ext cx="914400" cy="384048"/>
          </a:xfrm>
          <a:prstGeom prst="chevron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B132B"/>
                </a:solidFill>
                <a:latin typeface="Aptos"/>
              </a:rPr>
              <a:t>raw</a:t>
            </a:r>
          </a:p>
        </p:txBody>
      </p:sp>
      <p:sp>
        <p:nvSpPr>
          <p:cNvPr id="25" name="Chevron 24"/>
          <p:cNvSpPr/>
          <p:nvPr/>
        </p:nvSpPr>
        <p:spPr>
          <a:xfrm>
            <a:off x="7269480" y="3063240"/>
            <a:ext cx="914400" cy="384048"/>
          </a:xfrm>
          <a:prstGeom prst="chevron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B132B"/>
                </a:solidFill>
                <a:latin typeface="Aptos"/>
              </a:rPr>
              <a:t>env</a:t>
            </a:r>
          </a:p>
        </p:txBody>
      </p:sp>
      <p:sp>
        <p:nvSpPr>
          <p:cNvPr id="26" name="Chevron 25"/>
          <p:cNvSpPr/>
          <p:nvPr/>
        </p:nvSpPr>
        <p:spPr>
          <a:xfrm>
            <a:off x="9555480" y="2331720"/>
            <a:ext cx="914400" cy="384048"/>
          </a:xfrm>
          <a:prstGeom prst="chevron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B132B"/>
                </a:solidFill>
                <a:latin typeface="Aptos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9204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F7F7F2"/>
                </a:solidFill>
                <a:latin typeface="Aptos"/>
              </a:rPr>
              <a:t>This same pattern ports cleanly to GCP or Azure equivalents.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F7F7F2"/>
                </a:solidFill>
                <a:latin typeface="Aptos"/>
              </a:rPr>
              <a:t>The key separation is canonical storage versus latency-friendly summarized storage.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3BAC6"/>
                </a:solidFill>
                <a:latin typeface="Aptos"/>
              </a:rPr>
              <a:t>Mock Zarr recording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7F2"/>
                </a:solidFill>
                <a:latin typeface="Aptos Display"/>
              </a:rPr>
              <a:t>Hard Parts And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3BAC6"/>
                </a:solidFill>
                <a:latin typeface="Aptos"/>
              </a:rPr>
              <a:t>These are the engineering risks worth spending time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D2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828800"/>
          </a:xfrm>
          <a:prstGeom prst="rect">
            <a:avLst/>
          </a:prstGeom>
          <a:solidFill>
            <a:srgbClr val="D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Shard Fan-Out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223113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Cross-shard all-channel reads can double object fetches from 48 to 96.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Tail latency rises fast once the time window spans multiple shards.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45920"/>
            <a:ext cx="2560320" cy="182880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1645920"/>
            <a:ext cx="109728" cy="1828800"/>
          </a:xfrm>
          <a:prstGeom prst="rect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81051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Precompute vs On-Demand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2176272"/>
            <a:ext cx="223113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Too little preprocessing hurts panning latency.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Too much preprocessing increases build time and storage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2560320" cy="182880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645920"/>
            <a:ext cx="109728" cy="1828800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81051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Admission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176272"/>
            <a:ext cx="223113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Wide detail queries should not starve interactive users.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Payload and concurrency budgets need hard limits.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645920"/>
            <a:ext cx="2057400" cy="182880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72600" y="1645920"/>
            <a:ext cx="109728" cy="1828800"/>
          </a:xfrm>
          <a:prstGeom prst="rect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8105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Cache Correctness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176272"/>
            <a:ext cx="172821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Cache keys must include recording, channels, window, width, and level.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840480"/>
            <a:ext cx="3931920" cy="155448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3840480"/>
            <a:ext cx="109728" cy="1554480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4005072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UX Continuity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370832"/>
            <a:ext cx="3602736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Blank redraws during zoom are a product failure even if server latency looks fine.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Keep the previous frame visible until the next payload is decoded.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3840480"/>
            <a:ext cx="4572000" cy="155448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D2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3840480"/>
            <a:ext cx="109728" cy="1554480"/>
          </a:xfrm>
          <a:prstGeom prst="rect">
            <a:avLst/>
          </a:prstGeom>
          <a:solidFill>
            <a:srgbClr val="D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4005072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0448" y="4370832"/>
            <a:ext cx="4242816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Collect p50/p95/p99 latency, cache hit rates, object-store bytes read, and request rejection rates from day one.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3BAC6"/>
                </a:solidFill>
                <a:latin typeface="Aptos"/>
              </a:rPr>
              <a:t>Mock Zarr recording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7F2"/>
                </a:solidFill>
                <a:latin typeface="Aptos Display"/>
              </a:rPr>
              <a:t>Build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3BAC6"/>
                </a:solidFill>
                <a:latin typeface="Aptos"/>
              </a:rPr>
              <a:t>Pragmatic rollout with focused follow-up experiments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283464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9728" cy="2834640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59152"/>
            <a:ext cx="3099816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Metadata endpoint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Raw detail path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One overview envelope path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Binary transport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Optimistic client swap with no blank states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29000" cy="283464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109728" cy="2834640"/>
          </a:xfrm>
          <a:prstGeom prst="rect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933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359152"/>
            <a:ext cx="3099816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Multiresolution pyramid generation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CloudFront caching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Adjacent-window prefetch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Real object-store performance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283464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D2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109728" cy="2834640"/>
          </a:xfrm>
          <a:prstGeom prst="rect">
            <a:avLst/>
          </a:prstGeom>
          <a:solidFill>
            <a:srgbClr val="D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933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359152"/>
            <a:ext cx="3099816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SLO tuning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Admission control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Auth and tenancy work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Cost dashboards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Regression benchmarking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0744200" cy="86868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7F7F2"/>
                </a:solidFill>
                <a:latin typeface="Aptos"/>
              </a:rPr>
              <a:t>Next experiments: S3-backed reads, browser-side binary decode cost, and pyramid build cost per recording.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3BAC6"/>
                </a:solidFill>
                <a:latin typeface="Aptos"/>
              </a:rPr>
              <a:t>Mock Zarr recording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F7F2"/>
                </a:solidFill>
                <a:latin typeface="Aptos Display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3BAC6"/>
                </a:solidFill>
                <a:latin typeface="Aptos"/>
              </a:rPr>
              <a:t>The shortest path to a credible first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4D35E"/>
                </a:solidFill>
                <a:latin typeface="Aptos Display"/>
              </a:rPr>
              <a:t>Navigation and inspection are different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69494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F7F7F2"/>
                </a:solidFill>
                <a:latin typeface="Aptos"/>
              </a:rPr>
              <a:t>The mock data materially shaped the design: `current_data` is the hot path, and 10-second windows are already envelope territory.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F7F7F2"/>
                </a:solidFill>
                <a:latin typeface="Aptos"/>
              </a:rPr>
              <a:t>Ship a narrow, evidence-backed first version rather than a broad speculative platform.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F7F7F2"/>
                </a:solidFill>
                <a:latin typeface="Aptos"/>
              </a:rPr>
              <a:t>Success means no blank frames, common interactions under about 150 ms, and predictable cost per recording.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103120"/>
            <a:ext cx="3291840" cy="2468880"/>
          </a:xfrm>
          <a:prstGeom prst="roundRect">
            <a:avLst/>
          </a:prstGeom>
          <a:solidFill>
            <a:srgbClr val="1C2541"/>
          </a:solidFill>
          <a:ln w="15875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0" y="2103120"/>
            <a:ext cx="109728" cy="2468880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26771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7F7F2"/>
                </a:solidFill>
                <a:latin typeface="Aptos Display"/>
              </a:rPr>
              <a:t>Key Numeric Callout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2633472"/>
            <a:ext cx="2962656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1.21 GiB raw full overview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225 KiB as 1200 px envelope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F7F7F2"/>
                </a:solidFill>
                <a:latin typeface="Aptos"/>
              </a:rPr>
              <a:t>5625x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3BAC6"/>
                </a:solidFill>
                <a:latin typeface="Aptos"/>
              </a:rPr>
              <a:t>Generated from artifacts/metrics.json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